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36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观看本次关于“彩铃模型设计器”版本演进史的分享。在接下来的时间里，我们将一起回顾这款设计工具从最初的1.0版本到最新的5.2版本所经历的功能迭代与成长之路，看看它是如何一步步变得更加强大和易用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三个部分。首先，我们会对整个版本演进过程进行一个宏观的概览。接着，也是本次分享的重点，我们将逐一详细解析每个版本的核心功能和新增特性。最后，我们会对整个演进历程进行总结，并对未来的发展方向进行简单的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时间轴清晰地展示了彩铃模型设计器的发展脉络。从1.0版本的基础电气设计，到2.0版本引入机械功能，再到3.0版本的UI革新，每一次迭代都旨在提升产品的功能和用户体验。后续的版本则在功能深化、细节优化和界面布局上不断完善，最终形成了我们今天看到的5.2版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从1.0版本开始看起。这是产品的起点，它奠定了整个设计器的基础。1.0版本实现了核心的电气设计功能，包括基础的视图操作、丰富的部件库、电气连线工具以及最重要的电路仿真能力。大家可以看到右侧的界面截图，这就是最初版本的样子，简洁而实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2.0版本是一次重要的功能扩展，它首次引入了机械设计的概念。通过新增的机械连线工具和端口系统，用户可以像连接电路一样连接机械部件，并实现了真实的机械传动仿真。联动拖动功能也极大地提升了设计效率，让复杂模型的调整变得更加轻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3.0版本的重点在于用户体验的提升。它采用了全新的iOS风格UI设计，让整个软件的视觉效果焕然一新。虽然在功能上，它引入了联动拖动，但却暂时移除了机械线功能，这使得它更像是一个专注于电气设计的版本。右侧的思维导图展示了当时软件的整体功能结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3.5版本弥补了3.0版本的遗憾，重新引入了机械线功能，并对其进行了显著增强。一个重要的改进是区分了机械端口和电气端口的视觉样式，让用户在设计时不易混淆。同时，精确缩放控制的加入，也体现了对用户操作细节的关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4.0版本是一个过渡性的版本，它在功能上没有变化，主要进行了一些文本信息的更新，比如在项目信息中加入了新的贡献者，并更改了文件扩展名。这通常意味着产品在进行内部调整或准备迎接下一次重大更新。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5.0n是一次大胆的尝试，虽然最终未能发布，但它引入了许多革命性的功能。比如BOM清单，让用户可以直接在设计过程中进行成本估算；还有评估模态框，引导用户从多个维度思考设计的合理性。这些功能都体现了产品向工程化、实用化方向发展的努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在5.0n版本的基础上，经过调整和完善，5.0版本正式发布。它完整地继承了5.0n的所有功能，包括BOM清单和评估系统，标志着这些重要功能终于可以被广大用户使用。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5.1版本主要进行了功能优化和导出能力的增强。它将电线也纳入了BOM统计，让成本核算更加精确。更重要的是，它增加了导出Excel的功能，这对于需要进行详细数据分析和报告的用户来说非常实用。同时，也修复了一些已知的小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新的5.2版本对界面进行了一次重要的优化，核心是对工具栏进行了分组设计。通过将功能相似的工具归类到不同的折叠组中，界面变得更加整洁有序。用户可以根据需要展开或折叠不同的工具组，大大提升了操作的便捷性和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回顾整个演进历程，彩铃模型设计器的发展脉络非常清晰：从功能的不断扩展，到用户体验的持续优化，再到向工程化、实用化方向的深度发展。右侧的截图展示了最终版本丰富的部件库，这正是其功能不断完善的一个缩影。展望未来，我们期待它能在更多专业领域发挥更大的作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我的分享到此结束，感谢大家的观看！希望通过这次分享，能让大家对彩铃模型设计器的发展历程有一个全面的了解。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19" Target="../media/image19.png" Type="http://schemas.openxmlformats.org/officeDocument/2006/relationships/image"/><Relationship Id="rId2" Target="../media/image2.jpeg" Type="http://schemas.openxmlformats.org/officeDocument/2006/relationships/image"/><Relationship Id="rId20" Target="../media/image20.svg" Type="http://schemas.openxmlformats.org/officeDocument/2006/relationships/image"/><Relationship Id="rId21" Target="../media/image21.png" Type="http://schemas.openxmlformats.org/officeDocument/2006/relationships/image"/><Relationship Id="rId22" Target="../media/image22.svg" Type="http://schemas.openxmlformats.org/officeDocument/2006/relationships/image"/><Relationship Id="rId23" Target="../media/image23.png" Type="http://schemas.openxmlformats.org/officeDocument/2006/relationships/image"/><Relationship Id="rId24" Target="../media/image24.svg" Type="http://schemas.openxmlformats.org/officeDocument/2006/relationships/image"/><Relationship Id="rId25" Target="../media/image25.png" Type="http://schemas.openxmlformats.org/officeDocument/2006/relationships/image"/><Relationship Id="rId26" Target="../media/image26.svg" Type="http://schemas.openxmlformats.org/officeDocument/2006/relationships/image"/><Relationship Id="rId27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15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3.svg" Type="http://schemas.openxmlformats.org/officeDocument/2006/relationships/image"/><Relationship Id="rId11" Target="../media/image44.jpeg" Type="http://schemas.openxmlformats.org/officeDocument/2006/relationships/image"/><Relationship Id="rId12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media/image62.png" Type="http://schemas.openxmlformats.org/officeDocument/2006/relationships/image"/><Relationship Id="rId12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../media/image67.png" Type="http://schemas.openxmlformats.org/officeDocument/2006/relationships/image"/><Relationship Id="rId8" Target="../media/image68.svg" Type="http://schemas.openxmlformats.org/officeDocument/2006/relationships/image"/><Relationship Id="rId9" Target="../media/image6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70.png" Type="http://schemas.openxmlformats.org/officeDocument/2006/relationships/image"/><Relationship Id="rId6" Target="../media/image71.sv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0.svg" Type="http://schemas.openxmlformats.org/officeDocument/2006/relationships/image"/><Relationship Id="rId11" Target="../media/image81.png" Type="http://schemas.openxmlformats.org/officeDocument/2006/relationships/image"/><Relationship Id="rId12" Target="../media/image82.svg" Type="http://schemas.openxmlformats.org/officeDocument/2006/relationships/image"/><Relationship Id="rId13" Target="../media/image83.png" Type="http://schemas.openxmlformats.org/officeDocument/2006/relationships/image"/><Relationship Id="rId14" Target="../media/image84.svg" Type="http://schemas.openxmlformats.org/officeDocument/2006/relationships/image"/><Relationship Id="rId15" Target="../media/image85.png" Type="http://schemas.openxmlformats.org/officeDocument/2006/relationships/image"/><Relationship Id="rId16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4.xml" Type="http://schemas.openxmlformats.org/officeDocument/2006/relationships/notesSlide"/><Relationship Id="rId4" Target="../media/image8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41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RBT模型设计器版本演进史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238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9500"/>
                </a:solidFill>
                <a:latin typeface="Noto Sans SC"/>
                <a:ea typeface="Noto Sans SC"/>
                <a:cs typeface="Noto Sans SC"/>
                <a:sym typeface="Noto Sans SC"/>
              </a:rPr>
              <a:t>从1.0到5.2的功能迭代之路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556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7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版本演进概览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323" flipH="false" flipV="false">
            <a:off x="1016013" y="2279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回顾产品从1.0到5.2的完整迭代路径，梳理关键里程碑与技术变革。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064000"/>
            <a:ext cx="3556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总结与展望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4323" flipH="false" flipV="false">
            <a:off x="1016013" y="4819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495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总结各版本迭代经验，分析得失，并对未来版本规划进行展望。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1524000"/>
            <a:ext cx="6858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826000" y="177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334000" y="1778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各版本功能详解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6875" flipH="false" flipV="false">
            <a:off x="4826006" y="2279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826000" y="25400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207000" y="2514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1.0 基础功能搭建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826000" y="29845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5207000" y="29591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2.0 机械功能引入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4826000" y="3429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207000" y="3403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3.0 全新UI设计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4826000" y="38735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5207000" y="38481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3.5 机械功能增强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4826000" y="43180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207000" y="4292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4.0 文本信息更新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8128000" y="25400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8509000" y="2514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5.0n 失败版本探索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 flipH="false" flipV="false">
            <a:off x="8128000" y="2984500"/>
            <a:ext cx="254000" cy="254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509000" y="29591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5.0 正式版本发布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 flipH="false" flipV="false">
            <a:off x="8128000" y="3429000"/>
            <a:ext cx="254000" cy="2540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509000" y="3403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5.1 功能优化与导出增强</a:t>
            </a:r>
            <a:endParaRPr lang="en-US" sz="1100"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 flipH="false" flipV="false">
            <a:off x="8128000" y="3873500"/>
            <a:ext cx="254000" cy="2540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8509000" y="38481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5.2 工具栏分组设计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版本演进概览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33500" y="1803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 1.0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222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基础功能搭建，实现核心的电气设计与仿真。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841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016500" y="1803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 2.0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2222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引入机械连线与传动仿真，扩展了设计维度。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1841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699500" y="1803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 3.0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18500" y="2222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全新的iOS风格UI设计，提升用户体验。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000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333500" y="3962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 3.5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4381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重新引入并增强机械功能，优化操作细节。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4000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016500" y="3962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 4.0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35500" y="4381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主要进行文本信息更新，功能保持稳定。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18500" y="4000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699500" y="3962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 5.0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18500" y="4381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基于5.0n的正式发布版本，功能完善。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RBT模型设计器1.0：基础功能搭建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714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33500" y="1676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基础视图与部件库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032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视图操作：支持计量、缩放(50%-300%)和平移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部件库：集成车身结构、动力/电子/机械部件及自由图形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115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302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32639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核心工具与属性管理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619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设计工具：提供选择、电气连线(红/黑)、画笔、标注等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属性面板：支持锁定/解锁、复制、颜色选择及图层管理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889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33500" y="4851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文件操作与核心特性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5207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文件管理：支持.rbt格式保存、打开及图片导出</a:t>
            </a: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核心特性：内置电气端口系统与电路仿真(供电/短路保护)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0" r="11792" t="0" b="0"/>
          <a:stretch>
            <a:fillRect/>
          </a:stretch>
        </p:blipFill>
        <p:spPr>
          <a:xfrm rot="0" flipH="false" flipV="false">
            <a:off x="6096856" y="2222500"/>
            <a:ext cx="5333144" cy="2867121"/>
          </a:xfrm>
          <a:prstGeom prst="roundRect">
            <a:avLst>
              <a:gd name="adj" fmla="val 4429"/>
            </a:avLst>
          </a:prstGeom>
          <a:noFill/>
          <a:ln w="12700" cmpd="sng" cap="flat">
            <a:solidFill>
              <a:srgbClr val="C8C8C8">
                <a:alpha val="5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RBT模型设计器2.0：机械功能引入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406400" cy="4064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1320800" y="1625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新增机械连线工具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320800" y="1981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用于连接机械部件，实现像电路连接一样的直观操作体验。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667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20800" y="2641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机械端口系统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20800" y="2997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为电机、齿轮、车轴、轮子定义了标准化的机械连接端口，确保兼容性。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683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20800" y="3657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机械传动仿真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20800" y="4013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电机通电后，通过机械线连接的部件会产生真实的旋转运动，模拟物理传动。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4699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20800" y="46736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联动拖动功能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20800" y="50292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选中一个零件拖动，所有通过电气或机械连线相连的零件会一起移动，提升调整效率。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651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rcRect l="0" r="0" t="714" b="0"/>
          <a:stretch>
            <a:fillRect/>
          </a:stretch>
        </p:blipFill>
        <p:spPr>
          <a:xfrm rot="0" flipH="false" flipV="false">
            <a:off x="6350000" y="2197100"/>
            <a:ext cx="5019213" cy="283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RBT模型设计器3.0：全新UI设计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14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全新UI设计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20955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采用流行的iOS风格半透明玻璃设计，界面更加美观现代，提升用户视觉体验。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115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302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功能调整与取舍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24000" y="36830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引入2.0版本联动拖动功能，优化操作逻辑；暂未保留机械线功能。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89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889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核心功能传承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52705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完整保留1.0版本的所有电气设计和仿真功能，确保核心业务能力不降级。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524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1351" r="0" t="0" b="0"/>
          <a:stretch>
            <a:fillRect/>
          </a:stretch>
        </p:blipFill>
        <p:spPr>
          <a:xfrm rot="0" flipH="false" flipV="false">
            <a:off x="7787605" y="1505861"/>
            <a:ext cx="2204790" cy="4590139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RBT模型设计器3.5：机械功能增强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1270000"/>
          </a:xfrm>
          <a:prstGeom prst="roundRect">
            <a:avLst>
              <a:gd name="adj" fmla="val 1600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714500"/>
            <a:ext cx="4013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重新引入机械线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74800" y="2095500"/>
            <a:ext cx="401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弥补3.0版本遗憾，重新引入并显著增强了机械线功能，提升设计完整性。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5080000" cy="1270000"/>
          </a:xfrm>
          <a:prstGeom prst="roundRect">
            <a:avLst>
              <a:gd name="adj" fmla="val 1600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74800" y="3238500"/>
            <a:ext cx="4013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端口类型视觉区分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74800" y="3619500"/>
            <a:ext cx="401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机械端口采用菱形设计，电气端口采用圆形设计，视觉直观，不易混淆。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572000"/>
            <a:ext cx="5080000" cy="1270000"/>
          </a:xfrm>
          <a:prstGeom prst="roundRect">
            <a:avLst>
              <a:gd name="adj" fmla="val 1600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26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74800" y="4762500"/>
            <a:ext cx="4013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精确缩放控制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74800" y="5143500"/>
            <a:ext cx="401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新增百分比输入框，支持精确数值调整，满足精细化设计需求。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524000"/>
            <a:ext cx="5207000" cy="4318000"/>
          </a:xfrm>
          <a:prstGeom prst="roundRect">
            <a:avLst>
              <a:gd name="adj" fmla="val 4705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0" r="0" t="9210" b="9210"/>
          <a:stretch>
            <a:fillRect/>
          </a:stretch>
        </p:blipFill>
        <p:spPr>
          <a:xfrm rot="0" flipH="false" flipV="false">
            <a:off x="6413500" y="1714500"/>
            <a:ext cx="4826000" cy="393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RBT模型设计器4.0：文本信息更新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714500"/>
            <a:ext cx="426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新增贡献者信息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74800" y="2095500"/>
            <a:ext cx="426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在项目信息中正式增加了“深度求索AI”作为核心贡献者之一。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74800" y="3238500"/>
            <a:ext cx="426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文件扩展名升级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74800" y="3619500"/>
            <a:ext cx="426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项目文件扩展名从 .rbt 变更为 .rbtpmk，代表“RBT Project Mark”。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572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26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74800" y="4762500"/>
            <a:ext cx="426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功能保持稳定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74800" y="5143500"/>
            <a:ext cx="426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此版本为过渡版本，功能与3.5版本一致，无新增功能，仅更新内部信息。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524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1778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项目信息界面截图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254" r="254" t="0" b="10000"/>
          <a:stretch>
            <a:fillRect/>
          </a:stretch>
        </p:blipFill>
        <p:spPr>
          <a:xfrm rot="0" flipH="false" flipV="false">
            <a:off x="6604000" y="2286000"/>
            <a:ext cx="4572000" cy="228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RBT模型设计器5.0n：失败版本探索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406400" cy="4064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1270000" y="1625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新增核心部件：轴套 (Sleeve)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9812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引入轴套部件，丰富了模型设计的基础组件库，提升了设计的灵活性。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603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25781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智能补货清单 (BOM)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29337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侧边栏实时展示组件数量、单价与总价，实现设计过程中的物料成本实时核算。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55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35306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七维评估模态框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38862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从七个维度对设计进行全面评估，内置问题记录与解决方案文本域，规范设计流程。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4508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70000" y="44831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精确控制与强制评估机制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48387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支持部件旋转角度精确输入；保存项目需完成评估，导出图片自动添加水印。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858000" y="1651000"/>
            <a:ext cx="4572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12000" y="190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界面预览：BOM清单侧边栏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rcRect l="0" r="0" t="0" b="0"/>
          <a:stretch>
            <a:fillRect/>
          </a:stretch>
        </p:blipFill>
        <p:spPr>
          <a:xfrm rot="0" flipH="false" flipV="false">
            <a:off x="7041952" y="2606797"/>
            <a:ext cx="4204096" cy="1644406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7112000" y="4445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通过侧边栏，用户可以直观地看到当前设计方案的物料成本构成，实现设计与成本的实时联动。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RBT模型设计器5.0：正式版本发布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6416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功能完全一致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3105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2385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5.0版本完整继承了5.0n版本的所有功能特性，确保了用户体验的连续性和稳定性。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6416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版本号正式化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3105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32385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唯一的区别在于将版本标识从“5.0n”变更为正式的“5.0”，代表着产品进入成熟阶段。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6416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正式发布里程碑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3105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A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32385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标志着BOM管理、评估系统等核心功能正式成为产品的一部分，面向用户全面开放。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RBT模型设计器5.1：功能优化与导出增强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676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BOM 物料清单优化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20574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将电线（红线、黑线）纳入BOM统计，确保物料清单完整性，提升成本核算精度。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115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2639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9500"/>
                </a:solidFill>
                <a:latin typeface="Noto Sans SC"/>
                <a:ea typeface="Noto Sans SC"/>
                <a:cs typeface="Noto Sans SC"/>
                <a:sym typeface="Noto Sans SC"/>
              </a:rPr>
              <a:t>导出功能增强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24000" y="36449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新增“导出评估+BOM为Excel”按钮，支持CSV格式，方便用户进行后续数据分析处理。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89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851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系统稳定性修复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52324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修复了删除连线时BOM清单未能及时更新的问题，保障数据实时一致性。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524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0" r="0" t="6578" b="6578"/>
          <a:stretch>
            <a:fillRect/>
          </a:stretch>
        </p:blipFill>
        <p:spPr>
          <a:xfrm rot="0" flipH="false" flipV="false">
            <a:off x="6413500" y="1714500"/>
            <a:ext cx="4826000" cy="4191000"/>
          </a:xfrm>
          <a:prstGeom prst="roundRect">
            <a:avLst>
              <a:gd name="adj" fmla="val 303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RBT模型设计器5.2：工具栏分组设计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4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重组功能分组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2222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将原平铺工具栏重组为5个可折叠组：导出、连接工具、属性控制、操作历史、清除。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36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界面简洁化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24000" y="3746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高频“连接工具”默认展开，其余功能默认折叠，减少视觉干扰，保持界面清爽。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69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889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提升操作效率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5270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分类清晰，用户可快速定位所需工具，显著提升建模操作的流畅度。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0" y="1651000"/>
            <a:ext cx="5334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905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新版工具栏界面预览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61564" t="0" b="0"/>
          <a:stretch>
            <a:fillRect/>
          </a:stretch>
        </p:blipFill>
        <p:spPr>
          <a:xfrm rot="0" flipH="false" flipV="false">
            <a:off x="6096000" y="2693988"/>
            <a:ext cx="5392859" cy="45402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588000" cy="3302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6256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核心演进方向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594" flipH="false" flipV="false">
            <a:off x="1016008" y="2025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1971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功能扩展：从单一到全面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25019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从单一电气设计，逐步扩展至机械设计、成本核算及设计评估领域。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29591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UI/UX优化：体验持续升级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32639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历经iOS风格革新与工具栏分组优化，操作界面更加直观友好。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37211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工程化演进：专业辅助工具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397000" y="40259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引入BOM管理与设计评估功能，从绘图工具向专业工程平台转型。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889500"/>
            <a:ext cx="5588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080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97000" y="50546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461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未来将探索仿真精度提升、云端协作功能，并持续扩充专业部件库，助力更复杂的工程设计场景。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1397000"/>
            <a:ext cx="4826000" cy="4889500"/>
          </a:xfrm>
          <a:prstGeom prst="roundRect">
            <a:avLst>
              <a:gd name="adj" fmla="val 421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858000" y="1651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239000" y="16256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部件库展示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0110" flipH="false" flipV="false">
            <a:off x="6858009" y="2025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rcRect l="0" r="0" t="34362" b="34362"/>
          <a:stretch>
            <a:fillRect/>
          </a:stretch>
        </p:blipFill>
        <p:spPr>
          <a:xfrm rot="0" flipH="false" flipV="false">
            <a:off x="6858000" y="2222500"/>
            <a:ext cx="4318000" cy="3683000"/>
          </a:xfrm>
          <a:prstGeom prst="rect">
            <a:avLst/>
          </a:prstGeom>
          <a:noFill/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41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42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RBT模型设计器发展历程分享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